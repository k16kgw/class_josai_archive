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ja-JP"/>
    </a:def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26" autoAdjust="0"/>
  </p:normalViewPr>
  <p:slideViewPr>
    <p:cSldViewPr snapToGrid="0" snapToObjects="1">
      <p:cViewPr varScale="1">
        <p:scale>
          <a:sx n="154" d="100"/>
          <a:sy n="154" d="100"/>
        </p:scale>
        <p:origin x="36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DF052A-E0B8-F048-94C4-AB9E85C732CB}" type="datetimeFigureOut">
              <a:rPr kumimoji="1" lang="ja-JP" altLang="en-US" smtClean="0"/>
              <a:t>2026/7/13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6C4302-285F-F641-99C2-CA94E85E7F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220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C4302-285F-F641-99C2-CA94E85E7F1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867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itle"/>
          <p:cNvSpPr txBox="1"/>
          <p:nvPr/>
        </p:nvSpPr>
        <p:spPr>
          <a:xfrm>
            <a:off x="457200" y="257175"/>
            <a:ext cx="4343400" cy="26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210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Pythonの基本用語の対応</a:t>
            </a:r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468630" y="594360"/>
            <a:ext cx="600075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050" dirty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コードを書くときは「どの部分が名前で，どの部分が値か」を分けて読む。</a:t>
            </a:r>
            <a:endParaRPr/>
          </a:p>
        </p:txBody>
      </p:sp>
      <p:sp>
        <p:nvSpPr>
          <p:cNvPr id="5" name="statement panel"/>
          <p:cNvSpPr/>
          <p:nvPr/>
        </p:nvSpPr>
        <p:spPr>
          <a:xfrm>
            <a:off x="457200" y="982980"/>
            <a:ext cx="8229600" cy="731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BD5E1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label badge"/>
          <p:cNvSpPr/>
          <p:nvPr/>
        </p:nvSpPr>
        <p:spPr>
          <a:xfrm>
            <a:off x="662940" y="1074420"/>
            <a:ext cx="1143000" cy="19431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label text"/>
          <p:cNvSpPr txBox="1"/>
          <p:nvPr/>
        </p:nvSpPr>
        <p:spPr>
          <a:xfrm>
            <a:off x="662940" y="1108710"/>
            <a:ext cx="1143000" cy="125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1050" b="1" dirty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実行する命令</a:t>
            </a:r>
            <a:endParaRPr/>
          </a:p>
        </p:txBody>
      </p:sp>
      <p:sp>
        <p:nvSpPr>
          <p:cNvPr id="8" name="statement heading"/>
          <p:cNvSpPr txBox="1"/>
          <p:nvPr/>
        </p:nvSpPr>
        <p:spPr>
          <a:xfrm>
            <a:off x="1885950" y="1061431"/>
            <a:ext cx="2971800" cy="14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4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Pythonの文（statement）</a:t>
            </a:r>
            <a:endParaRPr dirty="0"/>
          </a:p>
        </p:txBody>
      </p:sp>
      <p:sp>
        <p:nvSpPr>
          <p:cNvPr id="9" name="statement code"/>
          <p:cNvSpPr txBox="1"/>
          <p:nvPr/>
        </p:nvSpPr>
        <p:spPr>
          <a:xfrm>
            <a:off x="685800" y="1348740"/>
            <a:ext cx="2400300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800" b="1" dirty="0">
                <a:solidFill>
                  <a:srgbClr val="111827"/>
                </a:solidFill>
                <a:latin typeface="Menlo"/>
                <a:ea typeface="Menlo"/>
                <a:cs typeface="Menlo"/>
              </a:rPr>
              <a:t>score = 80</a:t>
            </a:r>
            <a:endParaRPr dirty="0"/>
          </a:p>
        </p:txBody>
      </p:sp>
      <p:sp>
        <p:nvSpPr>
          <p:cNvPr id="10" name="variable box"/>
          <p:cNvSpPr/>
          <p:nvPr/>
        </p:nvSpPr>
        <p:spPr>
          <a:xfrm>
            <a:off x="685800" y="2114550"/>
            <a:ext cx="1885950" cy="971550"/>
          </a:xfrm>
          <a:prstGeom prst="roundRect">
            <a:avLst/>
          </a:prstGeom>
          <a:solidFill>
            <a:srgbClr val="EFF6FF"/>
          </a:solidFill>
          <a:ln w="30480">
            <a:solidFill>
              <a:srgbClr val="60A5FA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variable heading"/>
          <p:cNvSpPr txBox="1"/>
          <p:nvPr/>
        </p:nvSpPr>
        <p:spPr>
          <a:xfrm>
            <a:off x="885825" y="2214302"/>
            <a:ext cx="120015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5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変数名</a:t>
            </a:r>
            <a:endParaRPr/>
          </a:p>
        </p:txBody>
      </p:sp>
      <p:sp>
        <p:nvSpPr>
          <p:cNvPr id="12" name="variable code"/>
          <p:cNvSpPr txBox="1"/>
          <p:nvPr/>
        </p:nvSpPr>
        <p:spPr>
          <a:xfrm>
            <a:off x="885825" y="2477192"/>
            <a:ext cx="1257300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900" b="1" dirty="0">
                <a:solidFill>
                  <a:srgbClr val="111827"/>
                </a:solidFill>
                <a:latin typeface="Menlo"/>
                <a:ea typeface="Menlo"/>
                <a:cs typeface="Menlo"/>
              </a:rPr>
              <a:t>score</a:t>
            </a:r>
            <a:endParaRPr/>
          </a:p>
        </p:txBody>
      </p:sp>
      <p:sp>
        <p:nvSpPr>
          <p:cNvPr id="13" name="variable note"/>
          <p:cNvSpPr txBox="1"/>
          <p:nvPr/>
        </p:nvSpPr>
        <p:spPr>
          <a:xfrm>
            <a:off x="885825" y="2751512"/>
            <a:ext cx="154305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オブジェクトを参照</a:t>
            </a:r>
            <a:endParaRPr dirty="0"/>
          </a:p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するための名前</a:t>
            </a:r>
            <a:endParaRPr dirty="0"/>
          </a:p>
        </p:txBody>
      </p:sp>
      <p:sp>
        <p:nvSpPr>
          <p:cNvPr id="14" name="assignment box"/>
          <p:cNvSpPr/>
          <p:nvPr/>
        </p:nvSpPr>
        <p:spPr>
          <a:xfrm>
            <a:off x="3171825" y="2183130"/>
            <a:ext cx="1314450" cy="811530"/>
          </a:xfrm>
          <a:prstGeom prst="roundRect">
            <a:avLst/>
          </a:prstGeom>
          <a:solidFill>
            <a:srgbClr val="F8FAFC"/>
          </a:solidFill>
          <a:ln w="30480">
            <a:solidFill>
              <a:srgbClr val="94A3B8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assignment heading"/>
          <p:cNvSpPr txBox="1"/>
          <p:nvPr/>
        </p:nvSpPr>
        <p:spPr>
          <a:xfrm>
            <a:off x="3343275" y="2388870"/>
            <a:ext cx="100012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14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代入演算子</a:t>
            </a:r>
            <a:endParaRPr/>
          </a:p>
        </p:txBody>
      </p:sp>
      <p:sp>
        <p:nvSpPr>
          <p:cNvPr id="16" name="assignment code"/>
          <p:cNvSpPr txBox="1"/>
          <p:nvPr/>
        </p:nvSpPr>
        <p:spPr>
          <a:xfrm>
            <a:off x="3586422" y="2649162"/>
            <a:ext cx="514350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ja-JP" sz="2200" b="1" dirty="0">
                <a:solidFill>
                  <a:srgbClr val="111827"/>
                </a:solidFill>
                <a:latin typeface="Menlo"/>
                <a:ea typeface="Menlo"/>
                <a:cs typeface="Menlo"/>
              </a:rPr>
              <a:t>=</a:t>
            </a:r>
            <a:endParaRPr/>
          </a:p>
        </p:txBody>
      </p:sp>
      <p:sp>
        <p:nvSpPr>
          <p:cNvPr id="17" name="expression box"/>
          <p:cNvSpPr/>
          <p:nvPr/>
        </p:nvSpPr>
        <p:spPr>
          <a:xfrm>
            <a:off x="5029200" y="2114550"/>
            <a:ext cx="1600200" cy="971550"/>
          </a:xfrm>
          <a:prstGeom prst="roundRect">
            <a:avLst/>
          </a:prstGeom>
          <a:solidFill>
            <a:srgbClr val="FFFBEB"/>
          </a:solidFill>
          <a:ln w="30480">
            <a:solidFill>
              <a:srgbClr val="F59E0B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expression heading"/>
          <p:cNvSpPr txBox="1"/>
          <p:nvPr/>
        </p:nvSpPr>
        <p:spPr>
          <a:xfrm>
            <a:off x="5257800" y="2214303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5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式</a:t>
            </a:r>
            <a:endParaRPr/>
          </a:p>
        </p:txBody>
      </p:sp>
      <p:sp>
        <p:nvSpPr>
          <p:cNvPr id="19" name="expression code"/>
          <p:cNvSpPr txBox="1"/>
          <p:nvPr/>
        </p:nvSpPr>
        <p:spPr>
          <a:xfrm>
            <a:off x="5257800" y="2477193"/>
            <a:ext cx="628650" cy="217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2000" b="1" dirty="0">
                <a:solidFill>
                  <a:srgbClr val="111827"/>
                </a:solidFill>
                <a:latin typeface="Menlo"/>
                <a:ea typeface="Menlo"/>
                <a:cs typeface="Menlo"/>
              </a:rPr>
              <a:t>80</a:t>
            </a:r>
            <a:endParaRPr/>
          </a:p>
        </p:txBody>
      </p:sp>
      <p:sp>
        <p:nvSpPr>
          <p:cNvPr id="20" name="expression note"/>
          <p:cNvSpPr txBox="1"/>
          <p:nvPr/>
        </p:nvSpPr>
        <p:spPr>
          <a:xfrm>
            <a:off x="5257800" y="2751513"/>
            <a:ext cx="11430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評価すると値に</a:t>
            </a:r>
            <a:endParaRPr dirty="0"/>
          </a:p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なる</a:t>
            </a:r>
            <a:endParaRPr dirty="0"/>
          </a:p>
        </p:txBody>
      </p:sp>
      <p:cxnSp>
        <p:nvCxnSpPr>
          <p:cNvPr id="21" name="variable to assignment"/>
          <p:cNvCxnSpPr/>
          <p:nvPr/>
        </p:nvCxnSpPr>
        <p:spPr>
          <a:xfrm>
            <a:off x="2571750" y="2600325"/>
            <a:ext cx="600075" cy="0"/>
          </a:xfrm>
          <a:prstGeom prst="line">
            <a:avLst/>
          </a:prstGeom>
          <a:ln w="40640">
            <a:solidFill>
              <a:srgbClr val="2563EB"/>
            </a:solidFill>
            <a:tailEnd type="triangle"/>
          </a:ln>
        </p:spPr>
      </p:cxnSp>
      <p:cxnSp>
        <p:nvCxnSpPr>
          <p:cNvPr id="22" name="assignment to expression"/>
          <p:cNvCxnSpPr/>
          <p:nvPr/>
        </p:nvCxnSpPr>
        <p:spPr>
          <a:xfrm>
            <a:off x="4486275" y="2600325"/>
            <a:ext cx="542925" cy="0"/>
          </a:xfrm>
          <a:prstGeom prst="line">
            <a:avLst/>
          </a:prstGeom>
          <a:ln w="40640">
            <a:solidFill>
              <a:srgbClr val="2563EB"/>
            </a:solidFill>
            <a:tailEnd type="triangle"/>
          </a:ln>
        </p:spPr>
      </p:cxnSp>
      <p:sp>
        <p:nvSpPr>
          <p:cNvPr id="23" name="output box"/>
          <p:cNvSpPr/>
          <p:nvPr/>
        </p:nvSpPr>
        <p:spPr>
          <a:xfrm>
            <a:off x="685800" y="3600450"/>
            <a:ext cx="1885950" cy="857250"/>
          </a:xfrm>
          <a:prstGeom prst="roundRect">
            <a:avLst/>
          </a:prstGeom>
          <a:solidFill>
            <a:srgbClr val="FFF1F2"/>
          </a:solidFill>
          <a:ln w="30480">
            <a:solidFill>
              <a:srgbClr val="FB7185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output heading"/>
          <p:cNvSpPr txBox="1"/>
          <p:nvPr/>
        </p:nvSpPr>
        <p:spPr>
          <a:xfrm>
            <a:off x="885825" y="3733972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5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出力</a:t>
            </a:r>
            <a:endParaRPr dirty="0"/>
          </a:p>
        </p:txBody>
      </p:sp>
      <p:sp>
        <p:nvSpPr>
          <p:cNvPr id="25" name="output code"/>
          <p:cNvSpPr txBox="1"/>
          <p:nvPr/>
        </p:nvSpPr>
        <p:spPr>
          <a:xfrm>
            <a:off x="885825" y="3991147"/>
            <a:ext cx="131445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350" b="1" dirty="0">
                <a:solidFill>
                  <a:srgbClr val="111827"/>
                </a:solidFill>
                <a:latin typeface="Menlo"/>
                <a:ea typeface="Menlo"/>
                <a:cs typeface="Menlo"/>
              </a:rPr>
              <a:t>print(score)</a:t>
            </a:r>
            <a:endParaRPr dirty="0"/>
          </a:p>
        </p:txBody>
      </p:sp>
      <p:sp>
        <p:nvSpPr>
          <p:cNvPr id="26" name="output note"/>
          <p:cNvSpPr txBox="1"/>
          <p:nvPr/>
        </p:nvSpPr>
        <p:spPr>
          <a:xfrm>
            <a:off x="885825" y="4219747"/>
            <a:ext cx="1257300" cy="1485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050" dirty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表示される値：80</a:t>
            </a:r>
            <a:endParaRPr dirty="0"/>
          </a:p>
        </p:txBody>
      </p:sp>
      <p:sp>
        <p:nvSpPr>
          <p:cNvPr id="27" name="object box"/>
          <p:cNvSpPr/>
          <p:nvPr/>
        </p:nvSpPr>
        <p:spPr>
          <a:xfrm>
            <a:off x="5972175" y="3429000"/>
            <a:ext cx="2257425" cy="1085850"/>
          </a:xfrm>
          <a:prstGeom prst="roundRect">
            <a:avLst/>
          </a:prstGeom>
          <a:solidFill>
            <a:srgbClr val="ECFDF5"/>
          </a:solidFill>
          <a:ln w="30480">
            <a:solidFill>
              <a:srgbClr val="34D399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object heading"/>
          <p:cNvSpPr txBox="1"/>
          <p:nvPr/>
        </p:nvSpPr>
        <p:spPr>
          <a:xfrm>
            <a:off x="6200775" y="3617595"/>
            <a:ext cx="12573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550" b="1" dirty="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オブジェクト</a:t>
            </a:r>
            <a:endParaRPr/>
          </a:p>
        </p:txBody>
      </p:sp>
      <p:sp>
        <p:nvSpPr>
          <p:cNvPr id="29" name="object detail"/>
          <p:cNvSpPr txBox="1"/>
          <p:nvPr/>
        </p:nvSpPr>
        <p:spPr>
          <a:xfrm>
            <a:off x="6200775" y="3909060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080" dirty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値：80</a:t>
            </a:r>
            <a:endParaRPr dirty="0"/>
          </a:p>
          <a:p>
            <a:pPr algn="l">
              <a:buNone/>
            </a:pPr>
            <a:r>
              <a:rPr lang="ja-JP" sz="1080" dirty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型：int</a:t>
            </a:r>
            <a:endParaRPr dirty="0"/>
          </a:p>
          <a:p>
            <a:pPr algn="l">
              <a:buNone/>
            </a:pPr>
            <a:r>
              <a:rPr lang="ja-JP" sz="1080" dirty="0">
                <a:solidFill>
                  <a:srgbClr val="1F2937"/>
                </a:solidFill>
                <a:latin typeface="Hiragino Sans"/>
                <a:ea typeface="Hiragino Sans"/>
                <a:cs typeface="Hiragino Sans"/>
              </a:rPr>
              <a:t>識別値：実行中に区別する番号</a:t>
            </a:r>
            <a:endParaRPr dirty="0"/>
          </a:p>
        </p:txBody>
      </p:sp>
      <p:cxnSp>
        <p:nvCxnSpPr>
          <p:cNvPr id="30" name="expression to object"/>
          <p:cNvCxnSpPr/>
          <p:nvPr/>
        </p:nvCxnSpPr>
        <p:spPr>
          <a:xfrm>
            <a:off x="5829300" y="3086100"/>
            <a:ext cx="771525" cy="342900"/>
          </a:xfrm>
          <a:prstGeom prst="line">
            <a:avLst/>
          </a:prstGeom>
          <a:ln w="40640">
            <a:solidFill>
              <a:srgbClr val="059669"/>
            </a:solidFill>
            <a:tailEnd type="triangle"/>
          </a:ln>
        </p:spPr>
      </p:cxnSp>
      <p:cxnSp>
        <p:nvCxnSpPr>
          <p:cNvPr id="31" name="variable references object"/>
          <p:cNvCxnSpPr/>
          <p:nvPr/>
        </p:nvCxnSpPr>
        <p:spPr>
          <a:xfrm>
            <a:off x="1628775" y="3086100"/>
            <a:ext cx="4343400" cy="857250"/>
          </a:xfrm>
          <a:prstGeom prst="line">
            <a:avLst/>
          </a:prstGeom>
          <a:ln w="40640">
            <a:solidFill>
              <a:srgbClr val="059669"/>
            </a:solidFill>
            <a:tailEnd type="triangle"/>
          </a:ln>
        </p:spPr>
      </p:cxnSp>
      <p:sp>
        <p:nvSpPr>
          <p:cNvPr id="32" name="reference explanation"/>
          <p:cNvSpPr txBox="1"/>
          <p:nvPr/>
        </p:nvSpPr>
        <p:spPr>
          <a:xfrm>
            <a:off x="2922443" y="3460173"/>
            <a:ext cx="2857500" cy="262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10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代入後，変数名はオブジェクトを参照する</a:t>
            </a:r>
            <a:endParaRPr dirty="0"/>
          </a:p>
        </p:txBody>
      </p:sp>
      <p:sp>
        <p:nvSpPr>
          <p:cNvPr id="33" name="comment note box"/>
          <p:cNvSpPr/>
          <p:nvPr/>
        </p:nvSpPr>
        <p:spPr>
          <a:xfrm>
            <a:off x="2943225" y="4200525"/>
            <a:ext cx="2314575" cy="529417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BD5E1"/>
            </a:solidFill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comment note text"/>
          <p:cNvSpPr txBox="1"/>
          <p:nvPr/>
        </p:nvSpPr>
        <p:spPr>
          <a:xfrm>
            <a:off x="3086100" y="4309110"/>
            <a:ext cx="20574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コメントは # から行末まで。</a:t>
            </a:r>
            <a:endParaRPr dirty="0"/>
          </a:p>
          <a:p>
            <a:pPr algn="l">
              <a:buNone/>
            </a:pPr>
            <a:r>
              <a:rPr lang="ja-JP" sz="950" dirty="0">
                <a:solidFill>
                  <a:srgbClr val="374151"/>
                </a:solidFill>
                <a:latin typeface="Hiragino Sans"/>
                <a:ea typeface="Hiragino Sans"/>
                <a:cs typeface="Hiragino Sans"/>
              </a:rPr>
              <a:t>実行結果には影響しない。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Macintosh PowerPoint</Application>
  <PresentationFormat>画面に合わせる (16:9)</PresentationFormat>
  <Paragraphs>26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Hiragino Sans</vt:lpstr>
      <vt:lpstr>游ゴシック</vt:lpstr>
      <vt:lpstr>Arial</vt:lpstr>
      <vt:lpstr>Calibri</vt:lpstr>
      <vt:lpstr>Menlo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Pythonの基本用語の対応</dc:title>
  <dc:creator>Codex</dc:creator>
  <cp:lastModifiedBy>kkagawa</cp:lastModifiedBy>
  <cp:revision>2</cp:revision>
  <dcterms:created xsi:type="dcterms:W3CDTF">2026-07-12T16:36:35Z</dcterms:created>
  <dcterms:modified xsi:type="dcterms:W3CDTF">2026-07-12T16:39:24Z</dcterms:modified>
</cp:coreProperties>
</file>